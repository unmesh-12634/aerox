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A2540"/>
                </a:solidFill>
              </a:defRPr>
            </a:pPr>
            <a:r>
              <a:t>Problem Statement ID: SIH26056</a:t>
            </a:r>
            <a:endParaRPr lang="en-US" dirty="0"/>
          </a:p>
          <a:p>
            <a:pPr>
              <a:spcAft>
                <a:spcPts val="1200"/>
              </a:spcAft>
              <a:defRPr sz="1350" b="1">
                <a:solidFill>
                  <a:srgbClr val="0070F3"/>
                </a:solidFill>
              </a:defRPr>
            </a:pPr>
            <a:r>
              <a:t>Problem Statement Title: Real-Time Airfare Price Index for India (Smart Automation)</a:t>
            </a:r>
          </a:p>
          <a:p>
            <a:pPr>
              <a:spcAft>
                <a:spcPts val="1400"/>
              </a:spcAft>
              <a:defRPr sz="1200">
                <a:solidFill>
                  <a:srgbClr val="475569"/>
                </a:solidFill>
              </a:defRPr>
            </a:pPr>
            <a:r>
              <a:t>Theme: Smart Automation   |   Category: Software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Project: AEROX</a:t>
            </a:r>
          </a:p>
          <a:p>
            <a:pPr>
              <a:spcAft>
                <a:spcPts val="1800"/>
              </a:spcAft>
              <a:defRPr sz="1300" b="1">
                <a:solidFill>
                  <a:srgbClr val="10B981"/>
                </a:solidFill>
              </a:defRPr>
            </a:pPr>
            <a:r>
              <a:t>National Airfare Price Index (APIx) &amp; Market Intelligence</a:t>
            </a:r>
          </a:p>
          <a:p>
            <a:pPr>
              <a:defRPr sz="1400" b="1">
                <a:solidFill>
                  <a:srgbClr val="0A2540"/>
                </a:solidFill>
              </a:defRPr>
            </a:pPr>
            <a:r>
              <a:t>Team ID: [Your Team ID]   |   Team Name: Team AEROX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737360" y="182880"/>
            <a:ext cx="7863840" cy="822960"/>
          </a:xfrm>
        </p:spPr>
        <p:txBody>
          <a:bodyPr/>
          <a:lstStyle/>
          <a:p>
            <a:pPr eaLnBrk="1" hangingPunct="1" algn="l">
              <a:defRPr sz="2000" b="1">
                <a:solidFill>
                  <a:srgbClr val="0A2540"/>
                </a:solidFill>
              </a:defRPr>
            </a:pPr>
            <a:r>
              <a:t>PROPOSED SOLUTION: AEROX AIRFARE PRICE INDEX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0" y="0"/>
            <a:ext cx="9144" cy="9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A254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Team AEROX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Rounded Rectangle 15362"/>
          <p:cNvSpPr/>
          <p:nvPr/>
        </p:nvSpPr>
        <p:spPr>
          <a:xfrm>
            <a:off x="548640" y="1280160"/>
            <a:ext cx="530352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64592"/>
          <a:lstStyle/>
          <a:p>
            <a:pPr algn="ctr">
              <a:spcAft>
                <a:spcPts val="800"/>
              </a:spcAft>
              <a:defRPr b="1" sz="1250">
                <a:solidFill>
                  <a:srgbClr val="0A2540"/>
                </a:solidFill>
              </a:defRPr>
            </a:pPr>
            <a:r>
              <a:t>🚨 PROBLEM VS. 💡 PROPOSED SOLUTION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DC2626"/>
                </a:solidFill>
              </a:rPr>
              <a:t>❌ Market Fragmentation: </a:t>
            </a:r>
            <a:r>
              <a:rPr sz="950">
                <a:solidFill>
                  <a:srgbClr val="1E293B"/>
                </a:solidFill>
              </a:rPr>
              <a:t>Airfares scattered across 6+ OTAs with no standardized benchmark.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70F3"/>
                </a:solidFill>
              </a:rPr>
              <a:t>✅ Unified Index (APIx): </a:t>
            </a:r>
            <a:r>
              <a:rPr sz="950">
                <a:solidFill>
                  <a:srgbClr val="1E293B"/>
                </a:solidFill>
              </a:rPr>
              <a:t>Ingests 24,850+ quotes and computes daily Laspeyres &amp; Jevons indices.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DC2626"/>
                </a:solidFill>
              </a:rPr>
              <a:t>❌ Opaque Dynamic Surge: </a:t>
            </a:r>
            <a:r>
              <a:rPr sz="950">
                <a:solidFill>
                  <a:srgbClr val="1E293B"/>
                </a:solidFill>
              </a:rPr>
              <a:t>Airlines escalate fares by +65% during peak hours with no regulatory oversight.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70F3"/>
                </a:solidFill>
              </a:rPr>
              <a:t>✅ Automated Surge Alerts: </a:t>
            </a:r>
            <a:r>
              <a:rPr sz="950">
                <a:solidFill>
                  <a:srgbClr val="1E293B"/>
                </a:solidFill>
              </a:rPr>
              <a:t>Statistical IQR &amp; Z-score gates detect unannounced fare spikes in real time.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DC2626"/>
                </a:solidFill>
              </a:rPr>
              <a:t>❌ Unpredictable Lead-Time: </a:t>
            </a:r>
            <a:r>
              <a:rPr sz="950">
                <a:solidFill>
                  <a:srgbClr val="1E293B"/>
                </a:solidFill>
              </a:rPr>
              <a:t>Passengers overpay up to 35% without advance pricing visibility.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70F3"/>
                </a:solidFill>
              </a:rPr>
              <a:t>✅ Smart Booking Horizon: </a:t>
            </a:r>
            <a:r>
              <a:rPr sz="950">
                <a:solidFill>
                  <a:srgbClr val="1E293B"/>
                </a:solidFill>
              </a:rPr>
              <a:t>Calculates optimal 15–28 day window saving consumers 8–12% on tickets.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6126480" y="1280160"/>
            <a:ext cx="5486400" cy="2011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spcAft>
                <a:spcPts val="500"/>
              </a:spcAft>
              <a:defRPr b="1" sz="1250">
                <a:solidFill>
                  <a:srgbClr val="0A2540"/>
                </a:solidFill>
              </a:defRPr>
            </a:pPr>
            <a:r>
              <a:t>⭐ CORE INNOVATIONS &amp; NOVELTY</a:t>
            </a:r>
          </a:p>
          <a:p>
            <a:pPr>
              <a:spcAft>
                <a:spcPts val="350"/>
              </a:spcAft>
            </a:pPr>
            <a:r>
              <a:rPr b="1" sz="950">
                <a:solidFill>
                  <a:srgbClr val="0070F3"/>
                </a:solidFill>
              </a:rPr>
              <a:t>• DGCA PSD Weighted: </a:t>
            </a:r>
            <a:r>
              <a:rPr sz="900">
                <a:solidFill>
                  <a:srgbClr val="1E293B"/>
                </a:solidFill>
              </a:rPr>
              <a:t>Routes weighted by official domestic Passenger Seat Demand (DEL-BOM 12.4%, BLR-DEL 9.8%).</a:t>
            </a:r>
          </a:p>
          <a:p>
            <a:pPr>
              <a:spcAft>
                <a:spcPts val="350"/>
              </a:spcAft>
            </a:pPr>
            <a:r>
              <a:rPr b="1" sz="950">
                <a:solidFill>
                  <a:srgbClr val="0070F3"/>
                </a:solidFill>
              </a:rPr>
              <a:t>• 98.5% Quality Engine: </a:t>
            </a:r>
            <a:r>
              <a:rPr sz="900">
                <a:solidFill>
                  <a:srgbClr val="1E293B"/>
                </a:solidFill>
              </a:rPr>
              <a:t>Strict schema validation, deduplication, and zero-null route guarantee.</a:t>
            </a:r>
          </a:p>
          <a:p>
            <a:pPr>
              <a:spcAft>
                <a:spcPts val="350"/>
              </a:spcAft>
            </a:pPr>
            <a:r>
              <a:rPr b="1" sz="950">
                <a:solidFill>
                  <a:srgbClr val="0070F3"/>
                </a:solidFill>
              </a:rPr>
              <a:t>• Dual-Actor Utility: </a:t>
            </a:r>
            <a:r>
              <a:rPr sz="900">
                <a:solidFill>
                  <a:srgbClr val="1E293B"/>
                </a:solidFill>
              </a:rPr>
              <a:t>Serves Regulators (MoCA/DGCA) for policy &amp; Citizens for fair fare discovery.</a:t>
            </a:r>
          </a:p>
        </p:txBody>
      </p:sp>
      <p:pic>
        <p:nvPicPr>
          <p:cNvPr id="15365" name="Picture 15364" descr="system_performance_metr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3429000"/>
            <a:ext cx="548640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37360" y="182880"/>
            <a:ext cx="7863840" cy="822960"/>
          </a:xfrm>
        </p:spPr>
        <p:txBody>
          <a:bodyPr/>
          <a:lstStyle/>
          <a:p>
            <a:pPr eaLnBrk="1" hangingPunct="1" algn="l">
              <a:defRPr sz="2000" b="1">
                <a:solidFill>
                  <a:srgbClr val="0A2540"/>
                </a:solidFill>
              </a:defRPr>
            </a:pPr>
            <a:r>
              <a:t>TECHNICAL APPROACH: ARCHITECTURE &amp; METHODOLOGY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9144" cy="9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A254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Team AEROX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architecture_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234440"/>
            <a:ext cx="11064240" cy="1965960"/>
          </a:xfrm>
          <a:prstGeom prst="rect">
            <a:avLst/>
          </a:prstGeom>
        </p:spPr>
      </p:pic>
      <p:sp>
        <p:nvSpPr>
          <p:cNvPr id="17412" name="Rounded Rectangle 17411"/>
          <p:cNvSpPr/>
          <p:nvPr/>
        </p:nvSpPr>
        <p:spPr>
          <a:xfrm>
            <a:off x="548640" y="3337560"/>
            <a:ext cx="6217920" cy="2651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spcAft>
                <a:spcPts val="600"/>
              </a:spcAft>
              <a:defRPr b="1" sz="1200">
                <a:solidFill>
                  <a:srgbClr val="0A2540"/>
                </a:solidFill>
              </a:defRPr>
            </a:pPr>
            <a:r>
              <a:t>🛠️ PRODUCTION TECH STACK &amp; METHODOLOGY</a:t>
            </a:r>
          </a:p>
          <a:p>
            <a:pPr>
              <a:spcAft>
                <a:spcPts val="350"/>
              </a:spcAft>
            </a:pPr>
            <a:r>
              <a:rPr b="1" sz="950">
                <a:solidFill>
                  <a:srgbClr val="0070F3"/>
                </a:solidFill>
              </a:rPr>
              <a:t>• Ingestion Layer: </a:t>
            </a:r>
            <a:r>
              <a:rPr sz="900">
                <a:solidFill>
                  <a:srgbClr val="1E293B"/>
                </a:solidFill>
              </a:rPr>
              <a:t>Playwright Headless, BeautifulSoup4, AsyncIO (1.5s ethical rate-limiting).</a:t>
            </a:r>
          </a:p>
          <a:p>
            <a:pPr>
              <a:spcAft>
                <a:spcPts val="350"/>
              </a:spcAft>
            </a:pPr>
            <a:r>
              <a:rPr b="1" sz="950">
                <a:solidFill>
                  <a:srgbClr val="0070F3"/>
                </a:solidFill>
              </a:rPr>
              <a:t>• Econometric Core: </a:t>
            </a:r>
            <a:r>
              <a:rPr sz="900">
                <a:solidFill>
                  <a:srgbClr val="1E293B"/>
                </a:solidFill>
              </a:rPr>
              <a:t>Pandas, NumPy, Pydantic v2 (Jevons elementary geometric &amp; Laspeyres formulas).</a:t>
            </a:r>
          </a:p>
          <a:p>
            <a:pPr>
              <a:spcAft>
                <a:spcPts val="350"/>
              </a:spcAft>
            </a:pPr>
            <a:r>
              <a:rPr b="1" sz="950">
                <a:solidFill>
                  <a:srgbClr val="0070F3"/>
                </a:solidFill>
              </a:rPr>
              <a:t>• Micro-Service API: </a:t>
            </a:r>
            <a:r>
              <a:rPr sz="900">
                <a:solidFill>
                  <a:srgbClr val="1E293B"/>
                </a:solidFill>
              </a:rPr>
              <a:t>FastAPI (16 RESTful endpoints), OpenAPI interactive schema, Sub-45ms latency.</a:t>
            </a:r>
          </a:p>
          <a:p>
            <a:pPr>
              <a:spcAft>
                <a:spcPts val="350"/>
              </a:spcAft>
            </a:pPr>
            <a:r>
              <a:rPr b="1" sz="950">
                <a:solidFill>
                  <a:srgbClr val="0070F3"/>
                </a:solidFill>
              </a:rPr>
              <a:t>• Web Dashboard: </a:t>
            </a:r>
            <a:r>
              <a:rPr sz="900">
                <a:solidFill>
                  <a:srgbClr val="1E293B"/>
                </a:solidFill>
              </a:rPr>
              <a:t>Light Glassmorphic UI, Vanilla JS, Chart.js, Corridor heatmaps &amp; policy simulator.</a:t>
            </a:r>
          </a:p>
          <a:p>
            <a:pPr>
              <a:spcAft>
                <a:spcPts val="350"/>
              </a:spcAft>
            </a:pPr>
            <a:r>
              <a:rPr b="1" sz="950">
                <a:solidFill>
                  <a:srgbClr val="0070F3"/>
                </a:solidFill>
              </a:rPr>
              <a:t>• Quality Assurance: </a:t>
            </a:r>
            <a:r>
              <a:rPr sz="900">
                <a:solidFill>
                  <a:srgbClr val="1E293B"/>
                </a:solidFill>
              </a:rPr>
              <a:t>Pytest automated suite (80/80 tests passing, 100% pass rate in ~1.0s).</a:t>
            </a:r>
          </a:p>
        </p:txBody>
      </p:sp>
      <p:pic>
        <p:nvPicPr>
          <p:cNvPr id="17413" name="Picture 17412" descr="psd_route_weigh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3337560"/>
            <a:ext cx="457200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37360" y="182880"/>
            <a:ext cx="7863840" cy="822960"/>
          </a:xfrm>
        </p:spPr>
        <p:txBody>
          <a:bodyPr/>
          <a:lstStyle/>
          <a:p>
            <a:pPr eaLnBrk="1" hangingPunct="1" algn="l">
              <a:defRPr sz="2000" b="1">
                <a:solidFill>
                  <a:srgbClr val="0A2540"/>
                </a:solidFill>
              </a:defRPr>
            </a:pPr>
            <a:r>
              <a:t>FEASIBILITY, RISK ANALYSIS &amp; MITIGATION STRATEGY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9144" cy="9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A254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Team AEROX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548640" y="1280160"/>
            <a:ext cx="352044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/>
          <a:lstStyle/>
          <a:p>
            <a:pPr algn="ctr">
              <a:spcAft>
                <a:spcPts val="600"/>
              </a:spcAft>
              <a:defRPr b="1" sz="1200">
                <a:solidFill>
                  <a:srgbClr val="0A2540"/>
                </a:solidFill>
              </a:defRPr>
            </a:pPr>
            <a:r>
              <a:t>⚙️ FEASIBILITY ANALYSIS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0070F3"/>
                </a:solidFill>
              </a:rPr>
              <a:t>• Technical Feasibility: </a:t>
            </a:r>
            <a:r>
              <a:rPr sz="900">
                <a:solidFill>
                  <a:srgbClr val="1E293B"/>
                </a:solidFill>
              </a:rPr>
              <a:t>Fully functional working prototype; 80 automated unit &amp; integration tests pass with 100% success.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0070F3"/>
                </a:solidFill>
              </a:rPr>
              <a:t>• Low Compute Footprint: </a:t>
            </a:r>
            <a:r>
              <a:rPr sz="900">
                <a:solidFill>
                  <a:srgbClr val="1E293B"/>
                </a:solidFill>
              </a:rPr>
              <a:t>Runs comfortably in &lt;512MB RAM; lightweight Python micro-architecture.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0070F3"/>
                </a:solidFill>
              </a:rPr>
              <a:t>• Zero API License Cost: </a:t>
            </a:r>
            <a:r>
              <a:rPr sz="900">
                <a:solidFill>
                  <a:srgbClr val="1E293B"/>
                </a:solidFill>
              </a:rPr>
              <a:t>Zero dependence on paid 3rd-party commercial flight APIs; self-sustaining ingestion.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0070F3"/>
                </a:solidFill>
              </a:rPr>
              <a:t>• Rapid Extensibility: </a:t>
            </a:r>
            <a:r>
              <a:rPr sz="900">
                <a:solidFill>
                  <a:srgbClr val="1E293B"/>
                </a:solidFill>
              </a:rPr>
              <a:t>Seamlessly expands from Top 20 metro corridors to all 150+ regional UDAN routes.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343400" y="1280160"/>
            <a:ext cx="3520440" cy="466344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/>
          <a:lstStyle/>
          <a:p>
            <a:pPr algn="ctr">
              <a:spcAft>
                <a:spcPts val="600"/>
              </a:spcAft>
              <a:defRPr b="1" sz="1200">
                <a:solidFill>
                  <a:srgbClr val="DC2626"/>
                </a:solidFill>
              </a:defRPr>
            </a:pPr>
            <a:r>
              <a:t>⚠️ CHALLENGES &amp; RISKS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DC2626"/>
                </a:solidFill>
              </a:rPr>
              <a:t>• Anti-Bot Defenses: </a:t>
            </a:r>
            <a:r>
              <a:rPr sz="900">
                <a:solidFill>
                  <a:srgbClr val="1E293B"/>
                </a:solidFill>
              </a:rPr>
              <a:t>OTAs frequently rotate DOM elements and introduce bot-throttling / IP limits.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DC2626"/>
                </a:solidFill>
              </a:rPr>
              <a:t>• Surge Fare Volatility: </a:t>
            </a:r>
            <a:r>
              <a:rPr sz="900">
                <a:solidFill>
                  <a:srgbClr val="1E293B"/>
                </a:solidFill>
              </a:rPr>
              <a:t>Festive booking spikes can distort arithmetic averages and skew inflation readings.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DC2626"/>
                </a:solidFill>
              </a:rPr>
              <a:t>• Regional Data Sparsity: </a:t>
            </a:r>
            <a:r>
              <a:rPr sz="900">
                <a:solidFill>
                  <a:srgbClr val="1E293B"/>
                </a:solidFill>
              </a:rPr>
              <a:t>Tier-2/UDAN routes have lower flight frequencies and fewer daily observations.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DC2626"/>
                </a:solidFill>
              </a:rPr>
              <a:t>• OTA Fare Discrepancy: </a:t>
            </a:r>
            <a:r>
              <a:rPr sz="900">
                <a:solidFill>
                  <a:srgbClr val="1E293B"/>
                </a:solidFill>
              </a:rPr>
              <a:t>Varying convenience fees and hidden charges across booking portals.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8138160" y="1280160"/>
            <a:ext cx="3520440" cy="46634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/>
          <a:lstStyle/>
          <a:p>
            <a:pPr algn="ctr">
              <a:spcAft>
                <a:spcPts val="600"/>
              </a:spcAft>
              <a:defRPr b="1" sz="1200">
                <a:solidFill>
                  <a:srgbClr val="10B981"/>
                </a:solidFill>
              </a:defRPr>
            </a:pPr>
            <a:r>
              <a:t>🛡️ MITIGATION STRATEGIES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10B981"/>
                </a:solidFill>
              </a:rPr>
              <a:t>• Ethical Rate Ingestion: </a:t>
            </a:r>
            <a:r>
              <a:rPr sz="900">
                <a:solidFill>
                  <a:srgbClr val="1E293B"/>
                </a:solidFill>
              </a:rPr>
              <a:t>1.5s randomized jitter backoff, rotating user-agents, and multi-source fallbacks.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10B981"/>
                </a:solidFill>
              </a:rPr>
              <a:t>• Robust Statistical Filters: </a:t>
            </a:r>
            <a:r>
              <a:rPr sz="900">
                <a:solidFill>
                  <a:srgbClr val="1E293B"/>
                </a:solidFill>
              </a:rPr>
              <a:t>Interquartile Range (IQR) &amp; Z-score clipping isolates price surges from errors.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10B981"/>
                </a:solidFill>
              </a:rPr>
              <a:t>• Synthetic Interpolation: </a:t>
            </a:r>
            <a:r>
              <a:rPr sz="900">
                <a:solidFill>
                  <a:srgbClr val="1E293B"/>
                </a:solidFill>
              </a:rPr>
              <a:t>Historical corridor price curves interpolate low-frequency regional routes.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10B981"/>
                </a:solidFill>
              </a:rPr>
              <a:t>• Standardized Tax Schemas: </a:t>
            </a:r>
            <a:r>
              <a:rPr sz="900">
                <a:solidFill>
                  <a:srgbClr val="1E293B"/>
                </a:solidFill>
              </a:rPr>
              <a:t>Separates base fare from airport taxes/fees to maintain clean economic comparability.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37360" y="182880"/>
            <a:ext cx="7863840" cy="822960"/>
          </a:xfrm>
        </p:spPr>
        <p:txBody>
          <a:bodyPr/>
          <a:lstStyle/>
          <a:p>
            <a:pPr eaLnBrk="1" hangingPunct="1" algn="l">
              <a:defRPr sz="2000" b="1">
                <a:solidFill>
                  <a:srgbClr val="0A2540"/>
                </a:solidFill>
              </a:defRPr>
            </a:pPr>
            <a:r>
              <a:t>IMPACT, CITIZEN BENEFITS &amp; REGULATORY SURVEILLANCE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9144" cy="9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A254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Team AEROX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548640" y="1280160"/>
            <a:ext cx="594360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64592"/>
          <a:lstStyle/>
          <a:p>
            <a:pPr algn="ctr">
              <a:spcAft>
                <a:spcPts val="800"/>
              </a:spcAft>
              <a:defRPr b="1" sz="1250">
                <a:solidFill>
                  <a:srgbClr val="0A2540"/>
                </a:solidFill>
              </a:defRPr>
            </a:pPr>
            <a:r>
              <a:t>🌐 MULTI-STAKEHOLDER VALUE CREATION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070F3"/>
                </a:solidFill>
              </a:rPr>
              <a:t>🏛️ For Regulators (DGCA &amp; MoCA):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1E293B"/>
                </a:solidFill>
              </a:rPr>
              <a:t>• Real-time detection of predatory pricing &amp; cartelization.
• Objective data to evaluate seasonal airfare capping policies.
• Standardized aviation CPI input for national macroeconomic indicators.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070F3"/>
                </a:solidFill>
              </a:rPr>
              <a:t>👨‍👩‍👧 For Citizens &amp; Traveling Public: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1E293B"/>
                </a:solidFill>
              </a:rPr>
              <a:t>• Complete airfare transparency across routes and carriers.
• Data-driven 'Best Time to Book' intelligence (saves 8–12% per ticket).
• Protection against artificial panic surge gouging.</a:t>
            </a: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070F3"/>
                </a:solidFill>
              </a:rPr>
              <a:t>🛫 For Airlines &amp; Aviation Ecosystem: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1E293B"/>
                </a:solidFill>
              </a:rPr>
              <a:t>• Objective market demand benchmarks for route scheduling.
• Insights to support regional connectivity (UDAN) corridor viability.
• Transparent yield management comparison across peer carriers.</a:t>
            </a:r>
          </a:p>
        </p:txBody>
      </p:sp>
      <p:pic>
        <p:nvPicPr>
          <p:cNvPr id="17412" name="Picture 17411" descr="lead_time_decay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280160"/>
            <a:ext cx="4846320" cy="3063240"/>
          </a:xfrm>
          <a:prstGeom prst="rect">
            <a:avLst/>
          </a:prstGeom>
        </p:spPr>
      </p:pic>
      <p:sp>
        <p:nvSpPr>
          <p:cNvPr id="17413" name="Rounded Rectangle 17412"/>
          <p:cNvSpPr/>
          <p:nvPr/>
        </p:nvSpPr>
        <p:spPr>
          <a:xfrm>
            <a:off x="6766560" y="4480560"/>
            <a:ext cx="4846320" cy="14630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spcAft>
                <a:spcPts val="400"/>
              </a:spcAft>
              <a:defRPr b="1" sz="1150">
                <a:solidFill>
                  <a:srgbClr val="10B981"/>
                </a:solidFill>
              </a:defRPr>
            </a:pPr>
            <a:r>
              <a:t>🎯 QUANTIFIABLE IMPACT METRICS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A2540"/>
                </a:solidFill>
              </a:rPr>
              <a:t>• 8% to 12%: </a:t>
            </a:r>
            <a:r>
              <a:rPr sz="900">
                <a:solidFill>
                  <a:srgbClr val="1E293B"/>
                </a:solidFill>
              </a:rPr>
              <a:t>Average citizen ticket cost optimization via lead-time booking.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A2540"/>
                </a:solidFill>
              </a:rPr>
              <a:t>• 100% Real-Time: </a:t>
            </a:r>
            <a:r>
              <a:rPr sz="900">
                <a:solidFill>
                  <a:srgbClr val="1E293B"/>
                </a:solidFill>
              </a:rPr>
              <a:t>Continuous monitoring of surge deviations across 60+ corridors.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A2540"/>
                </a:solidFill>
              </a:rPr>
              <a:t>• 62% Traffic Coverage: </a:t>
            </a:r>
            <a:r>
              <a:rPr sz="900">
                <a:solidFill>
                  <a:srgbClr val="1E293B"/>
                </a:solidFill>
              </a:rPr>
              <a:t>Focus on top metro city-pairs with expandable regional reach.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37360" y="182880"/>
            <a:ext cx="7863840" cy="822960"/>
          </a:xfrm>
        </p:spPr>
        <p:txBody>
          <a:bodyPr/>
          <a:lstStyle/>
          <a:p>
            <a:pPr eaLnBrk="1" hangingPunct="1" algn="l">
              <a:defRPr sz="2000" b="1">
                <a:solidFill>
                  <a:srgbClr val="0A2540"/>
                </a:solidFill>
              </a:defRPr>
            </a:pPr>
            <a:r>
              <a:t>RESEARCH FOUNDATIONS &amp; EMPIRICAL BACKTEST EVIDENCE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9144" cy="9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0070F3"/>
          </a:solidFill>
          <a:ln w="12700">
            <a:solidFill>
              <a:srgbClr val="0A254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Team AEROX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548640" y="1280160"/>
            <a:ext cx="576072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64592"/>
          <a:lstStyle/>
          <a:p>
            <a:pPr algn="ctr">
              <a:spcAft>
                <a:spcPts val="800"/>
              </a:spcAft>
              <a:defRPr b="1" sz="1200">
                <a:solidFill>
                  <a:srgbClr val="0A2540"/>
                </a:solidFill>
              </a:defRPr>
            </a:pPr>
            <a:r>
              <a:t>📚 ACADEMIC &amp; REGULATORY CITATIONS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070F3"/>
                </a:solidFill>
              </a:rPr>
              <a:t>1. DGCA Monthly Air Transport Reports (2024–2026):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1E293B"/>
                </a:solidFill>
              </a:rPr>
              <a:t>Official domestic passenger load matrices &amp; domestic city-pair traffic used for Laspeyres weighting.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070F3"/>
                </a:solidFill>
              </a:rPr>
              <a:t>2. IMF &amp; ILO Consumer Price Index Manual: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1E293B"/>
                </a:solidFill>
              </a:rPr>
              <a:t>Econometric formulation: Jevons Geometric Mean for elementary item-level fares; Laspeyres formula for basket aggregation.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070F3"/>
                </a:solidFill>
              </a:rPr>
              <a:t>3. Ministry of Civil Aviation (MoCA) Directives: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1E293B"/>
                </a:solidFill>
              </a:rPr>
              <a:t>Route Dispersal Guidelines (RDG), UDAN Regional Connectivity Scheme, and consumer protection circulars on dynamic pricing.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070F3"/>
                </a:solidFill>
              </a:rPr>
              <a:t>4. AEROX Validated Codebase &amp; Artifacts:</a:t>
            </a:r>
          </a:p>
          <a:p>
            <a:pPr>
              <a:spcAft>
                <a:spcPts val="600"/>
              </a:spcAft>
            </a:pPr>
            <a:r>
              <a:rPr sz="900">
                <a:solidFill>
                  <a:srgbClr val="1E293B"/>
                </a:solidFill>
              </a:rPr>
              <a:t>• Pytest suite: 80/80 automated test coverage across all pipeline modules.
• Live Interactive OpenAPI Documentation (/docs) with 16 endpoints.
• Audited backtest report: data/reports/DGCA_30DAY_BACKTEST_VALIDATION.md.</a:t>
            </a:r>
          </a:p>
        </p:txBody>
      </p:sp>
      <p:pic>
        <p:nvPicPr>
          <p:cNvPr id="17412" name="Picture 17411" descr="dgca_backtest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280160"/>
            <a:ext cx="5120640" cy="3063240"/>
          </a:xfrm>
          <a:prstGeom prst="rect">
            <a:avLst/>
          </a:prstGeom>
        </p:spPr>
      </p:pic>
      <p:sp>
        <p:nvSpPr>
          <p:cNvPr id="17413" name="Rounded Rectangle 17412"/>
          <p:cNvSpPr/>
          <p:nvPr/>
        </p:nvSpPr>
        <p:spPr>
          <a:xfrm>
            <a:off x="6492240" y="4480560"/>
            <a:ext cx="5120640" cy="146304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spcAft>
                <a:spcPts val="400"/>
              </a:spcAft>
              <a:defRPr b="1" sz="1100">
                <a:solidFill>
                  <a:srgbClr val="0070F3"/>
                </a:solidFill>
              </a:defRPr>
            </a:pPr>
            <a:r>
              <a:t>🏆 EMPIRICAL BACKTEST RESULTS (60-DAY TEST)</a:t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0F172A"/>
                </a:solidFill>
              </a:rPr>
              <a:t>• Pearson Correlation (r): </a:t>
            </a:r>
            <a:r>
              <a:rPr sz="850">
                <a:solidFill>
                  <a:srgbClr val="1E293B"/>
                </a:solidFill>
              </a:rPr>
              <a:t>0.9998 (Target &gt;= 0.8500 — Exceeds Target)</a:t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0F172A"/>
                </a:solidFill>
              </a:rPr>
              <a:t>• Coefficient of Fit (R²): </a:t>
            </a:r>
            <a:r>
              <a:rPr sz="850">
                <a:solidFill>
                  <a:srgbClr val="1E293B"/>
                </a:solidFill>
              </a:rPr>
              <a:t>0.9995 (Near-perfect econometric fit)</a:t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0F172A"/>
                </a:solidFill>
              </a:rPr>
              <a:t>• Mean Absolute % Error: </a:t>
            </a:r>
            <a:r>
              <a:rPr sz="850">
                <a:solidFill>
                  <a:srgbClr val="1E293B"/>
                </a:solidFill>
              </a:rPr>
              <a:t>0.77% (High precision tracking)</a:t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0F172A"/>
                </a:solidFill>
              </a:rPr>
              <a:t>• Directional Accuracy: </a:t>
            </a:r>
            <a:r>
              <a:rPr sz="850">
                <a:solidFill>
                  <a:srgbClr val="1E293B"/>
                </a:solidFill>
              </a:rPr>
              <a:t>96.6% (Consistent price trend prediction)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